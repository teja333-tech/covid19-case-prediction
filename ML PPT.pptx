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Poppins Bold" charset="1" panose="00000800000000000000"/>
      <p:regular r:id="rId20"/>
    </p:embeddedFont>
    <p:embeddedFont>
      <p:font typeface="Poppins" charset="1" panose="00000500000000000000"/>
      <p:regular r:id="rId21"/>
    </p:embeddedFont>
    <p:embeddedFont>
      <p:font typeface="Canva Sans" charset="1" panose="020B0503030501040103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15558" y="1294909"/>
            <a:ext cx="14800660" cy="2868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78"/>
              </a:lnSpc>
            </a:pPr>
            <a:r>
              <a:rPr lang="en-US" b="true" sz="10678">
                <a:solidFill>
                  <a:srgbClr val="4F7662"/>
                </a:solidFill>
                <a:latin typeface="Poppins Bold"/>
                <a:ea typeface="Poppins Bold"/>
                <a:cs typeface="Poppins Bold"/>
                <a:sym typeface="Poppins Bold"/>
              </a:rPr>
              <a:t>EDA on COVID-19 Dataset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186810" y="4850147"/>
            <a:ext cx="13259832" cy="1253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6"/>
              </a:lnSpc>
            </a:pPr>
            <a:r>
              <a:rPr lang="en-US" sz="3519">
                <a:solidFill>
                  <a:srgbClr val="4F7662"/>
                </a:solidFill>
                <a:latin typeface="Poppins"/>
                <a:ea typeface="Poppins"/>
                <a:cs typeface="Poppins"/>
                <a:sym typeface="Poppins"/>
              </a:rPr>
              <a:t>Exploratory Data Analysis and Visualization of COVID-19 Data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725675" y="7049324"/>
            <a:ext cx="3961859" cy="2651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2"/>
              </a:lnSpc>
            </a:pPr>
            <a:r>
              <a:rPr lang="en-US" sz="2523">
                <a:solidFill>
                  <a:srgbClr val="4F7662"/>
                </a:solidFill>
                <a:latin typeface="Poppins"/>
                <a:ea typeface="Poppins"/>
                <a:cs typeface="Poppins"/>
                <a:sym typeface="Poppins"/>
              </a:rPr>
              <a:t>SHREYA JOSE </a:t>
            </a:r>
          </a:p>
          <a:p>
            <a:pPr algn="ctr">
              <a:lnSpc>
                <a:spcPts val="3532"/>
              </a:lnSpc>
            </a:pPr>
            <a:r>
              <a:rPr lang="en-US" sz="2523">
                <a:solidFill>
                  <a:srgbClr val="4F7662"/>
                </a:solidFill>
                <a:latin typeface="Poppins"/>
                <a:ea typeface="Poppins"/>
                <a:cs typeface="Poppins"/>
                <a:sym typeface="Poppins"/>
              </a:rPr>
              <a:t>SNEHA K</a:t>
            </a:r>
          </a:p>
          <a:p>
            <a:pPr algn="ctr">
              <a:lnSpc>
                <a:spcPts val="3532"/>
              </a:lnSpc>
            </a:pPr>
            <a:r>
              <a:rPr lang="en-US" sz="2523">
                <a:solidFill>
                  <a:srgbClr val="4F7662"/>
                </a:solidFill>
                <a:latin typeface="Poppins"/>
                <a:ea typeface="Poppins"/>
                <a:cs typeface="Poppins"/>
                <a:sym typeface="Poppins"/>
              </a:rPr>
              <a:t>SREENANDU PRDEEP</a:t>
            </a:r>
          </a:p>
          <a:p>
            <a:pPr algn="ctr">
              <a:lnSpc>
                <a:spcPts val="3532"/>
              </a:lnSpc>
            </a:pPr>
            <a:r>
              <a:rPr lang="en-US" sz="2523">
                <a:solidFill>
                  <a:srgbClr val="4F7662"/>
                </a:solidFill>
                <a:latin typeface="Poppins"/>
                <a:ea typeface="Poppins"/>
                <a:cs typeface="Poppins"/>
                <a:sym typeface="Poppins"/>
              </a:rPr>
              <a:t>SRUTHIKA S</a:t>
            </a:r>
          </a:p>
          <a:p>
            <a:pPr algn="ctr">
              <a:lnSpc>
                <a:spcPts val="3532"/>
              </a:lnSpc>
            </a:pPr>
            <a:r>
              <a:rPr lang="en-US" sz="2523">
                <a:solidFill>
                  <a:srgbClr val="4F7662"/>
                </a:solidFill>
                <a:latin typeface="Poppins"/>
                <a:ea typeface="Poppins"/>
                <a:cs typeface="Poppins"/>
                <a:sym typeface="Poppins"/>
              </a:rPr>
              <a:t>TEJASWINI PRASHANTH</a:t>
            </a:r>
          </a:p>
          <a:p>
            <a:pPr algn="ctr">
              <a:lnSpc>
                <a:spcPts val="3532"/>
              </a:lnSpc>
              <a:spcBef>
                <a:spcPct val="0"/>
              </a:spcBef>
            </a:pPr>
            <a:r>
              <a:rPr lang="en-US" sz="2523">
                <a:solidFill>
                  <a:srgbClr val="4F7662"/>
                </a:solidFill>
                <a:latin typeface="Poppins"/>
                <a:ea typeface="Poppins"/>
                <a:cs typeface="Poppins"/>
                <a:sym typeface="Poppins"/>
              </a:rPr>
              <a:t>TOMLIN T SUNNY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49914" y="504019"/>
            <a:ext cx="9177246" cy="1125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8"/>
              </a:lnSpc>
            </a:pPr>
            <a:r>
              <a:rPr lang="en-US" sz="7938" b="true">
                <a:solidFill>
                  <a:srgbClr val="4F7662"/>
                </a:solidFill>
                <a:latin typeface="Poppins Bold"/>
                <a:ea typeface="Poppins Bold"/>
                <a:cs typeface="Poppins Bold"/>
                <a:sym typeface="Poppins Bold"/>
              </a:rPr>
              <a:t> Introduction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31872" y="2434288"/>
            <a:ext cx="15224257" cy="1863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2"/>
              </a:lnSpc>
            </a:pPr>
            <a:r>
              <a:rPr lang="en-US" sz="3494">
                <a:solidFill>
                  <a:srgbClr val="4F7662"/>
                </a:solidFill>
                <a:latin typeface="Poppins"/>
                <a:ea typeface="Poppins"/>
                <a:cs typeface="Poppins"/>
                <a:sym typeface="Poppins"/>
              </a:rPr>
              <a:t>COVID-19 generated extensive data on confirmed cases, recoveries, and deaths across different regions. Analyzing this data helps us understand how infection patterns and rates changed over time.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49914" y="5048250"/>
            <a:ext cx="15206214" cy="3743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79"/>
              </a:lnSpc>
            </a:pPr>
            <a:r>
              <a:rPr lang="en-US" sz="3628">
                <a:solidFill>
                  <a:srgbClr val="4F7662"/>
                </a:solidFill>
                <a:latin typeface="Poppins"/>
                <a:ea typeface="Poppins"/>
                <a:cs typeface="Poppins"/>
                <a:sym typeface="Poppins"/>
              </a:rPr>
              <a:t>Exploratory Data Analysis (EDA) is used to examine, summarize, and visualize data to discover meaningful patterns and trends.</a:t>
            </a:r>
          </a:p>
          <a:p>
            <a:pPr algn="l">
              <a:lnSpc>
                <a:spcPts val="5079"/>
              </a:lnSpc>
            </a:pPr>
            <a:r>
              <a:rPr lang="en-US" sz="3628">
                <a:solidFill>
                  <a:srgbClr val="4F7662"/>
                </a:solidFill>
                <a:latin typeface="Poppins"/>
                <a:ea typeface="Poppins"/>
                <a:cs typeface="Poppins"/>
                <a:sym typeface="Poppins"/>
              </a:rPr>
              <a:t>This project applies EDA techniques to the COVID-19 dataset to analyze the data and identify important trends and infection patterns across different regions.</a:t>
            </a:r>
          </a:p>
          <a:p>
            <a:pPr algn="l">
              <a:lnSpc>
                <a:spcPts val="430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27103" y="1147930"/>
            <a:ext cx="8236712" cy="1125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8"/>
              </a:lnSpc>
            </a:pPr>
            <a:r>
              <a:rPr lang="en-US" sz="7938" b="true">
                <a:solidFill>
                  <a:srgbClr val="4F7662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27103" y="2736476"/>
            <a:ext cx="13656173" cy="5951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4853" indent="-407427" lvl="1">
              <a:lnSpc>
                <a:spcPts val="5283"/>
              </a:lnSpc>
              <a:buFont typeface="Arial"/>
              <a:buChar char="•"/>
            </a:pPr>
            <a:r>
              <a:rPr lang="en-US" sz="3774">
                <a:solidFill>
                  <a:srgbClr val="4F7662"/>
                </a:solidFill>
                <a:latin typeface="Poppins"/>
                <a:ea typeface="Poppins"/>
                <a:cs typeface="Poppins"/>
                <a:sym typeface="Poppins"/>
              </a:rPr>
              <a:t>To understand and explore the COVID-19 dataset.</a:t>
            </a:r>
          </a:p>
          <a:p>
            <a:pPr algn="l" marL="814853" indent="-407427" lvl="1">
              <a:lnSpc>
                <a:spcPts val="5283"/>
              </a:lnSpc>
              <a:buFont typeface="Arial"/>
              <a:buChar char="•"/>
            </a:pPr>
            <a:r>
              <a:rPr lang="en-US" sz="3774">
                <a:solidFill>
                  <a:srgbClr val="4F7662"/>
                </a:solidFill>
                <a:latin typeface="Poppins"/>
                <a:ea typeface="Poppins"/>
                <a:cs typeface="Poppins"/>
                <a:sym typeface="Poppins"/>
              </a:rPr>
              <a:t>To clean and preprocess the available data.</a:t>
            </a:r>
          </a:p>
          <a:p>
            <a:pPr algn="l" marL="814853" indent="-407427" lvl="1">
              <a:lnSpc>
                <a:spcPts val="5283"/>
              </a:lnSpc>
              <a:buFont typeface="Arial"/>
              <a:buChar char="•"/>
            </a:pPr>
            <a:r>
              <a:rPr lang="en-US" sz="3774">
                <a:solidFill>
                  <a:srgbClr val="4F7662"/>
                </a:solidFill>
                <a:latin typeface="Poppins"/>
                <a:ea typeface="Poppins"/>
                <a:cs typeface="Poppins"/>
                <a:sym typeface="Poppins"/>
              </a:rPr>
              <a:t>To analyze COVID-19 infection patterns and rates.</a:t>
            </a:r>
          </a:p>
          <a:p>
            <a:pPr algn="l" marL="814853" indent="-407427" lvl="1">
              <a:lnSpc>
                <a:spcPts val="5283"/>
              </a:lnSpc>
              <a:buFont typeface="Arial"/>
              <a:buChar char="•"/>
            </a:pPr>
            <a:r>
              <a:rPr lang="en-US" sz="3774">
                <a:solidFill>
                  <a:srgbClr val="4F7662"/>
                </a:solidFill>
                <a:latin typeface="Poppins"/>
                <a:ea typeface="Poppins"/>
                <a:cs typeface="Poppins"/>
                <a:sym typeface="Poppins"/>
              </a:rPr>
              <a:t>To identify important trends and relationships in the data.</a:t>
            </a:r>
          </a:p>
          <a:p>
            <a:pPr algn="l" marL="814853" indent="-407427" lvl="1">
              <a:lnSpc>
                <a:spcPts val="5283"/>
              </a:lnSpc>
              <a:buFont typeface="Arial"/>
              <a:buChar char="•"/>
            </a:pPr>
            <a:r>
              <a:rPr lang="en-US" sz="3774">
                <a:solidFill>
                  <a:srgbClr val="4F7662"/>
                </a:solidFill>
                <a:latin typeface="Poppins"/>
                <a:ea typeface="Poppins"/>
                <a:cs typeface="Poppins"/>
                <a:sym typeface="Poppins"/>
              </a:rPr>
              <a:t>To visualize the data using suitable charts and graphs.</a:t>
            </a:r>
          </a:p>
          <a:p>
            <a:pPr algn="l" marL="814853" indent="-407427" lvl="1">
              <a:lnSpc>
                <a:spcPts val="5283"/>
              </a:lnSpc>
              <a:buFont typeface="Arial"/>
              <a:buChar char="•"/>
            </a:pPr>
            <a:r>
              <a:rPr lang="en-US" sz="3774">
                <a:solidFill>
                  <a:srgbClr val="4F7662"/>
                </a:solidFill>
                <a:latin typeface="Poppins"/>
                <a:ea typeface="Poppins"/>
                <a:cs typeface="Poppins"/>
                <a:sym typeface="Poppins"/>
              </a:rPr>
              <a:t>To derive meaningful observations from the analysis</a:t>
            </a:r>
          </a:p>
          <a:p>
            <a:pPr algn="l">
              <a:lnSpc>
                <a:spcPts val="5283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88831" y="912874"/>
            <a:ext cx="9177246" cy="1159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38"/>
              </a:lnSpc>
            </a:pPr>
            <a:r>
              <a:rPr lang="en-US" sz="8138" b="true">
                <a:solidFill>
                  <a:srgbClr val="4F7662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904523"/>
            <a:ext cx="15416283" cy="1128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2"/>
              </a:lnSpc>
            </a:pPr>
            <a:r>
              <a:rPr lang="en-US" sz="3194">
                <a:solidFill>
                  <a:srgbClr val="4F7662"/>
                </a:solidFill>
                <a:latin typeface="Poppins"/>
                <a:ea typeface="Poppins"/>
                <a:cs typeface="Poppins"/>
                <a:sym typeface="Poppins"/>
              </a:rPr>
              <a:t>The project uses a COVID-19 dataset containing information related to the spread and impact of the disease across different regions.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74789" y="4692303"/>
            <a:ext cx="9249661" cy="451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8"/>
              </a:lnSpc>
              <a:spcBef>
                <a:spcPct val="0"/>
              </a:spcBef>
            </a:pPr>
            <a:r>
              <a:rPr lang="en-US" sz="3138">
                <a:solidFill>
                  <a:srgbClr val="4F7662"/>
                </a:solidFill>
                <a:latin typeface="Poppins"/>
                <a:ea typeface="Poppins"/>
                <a:cs typeface="Poppins"/>
                <a:sym typeface="Poppins"/>
              </a:rPr>
              <a:t>The dataset includes information such as: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74789" y="5740283"/>
            <a:ext cx="16230600" cy="2565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5497" indent="-432748" lvl="1">
              <a:lnSpc>
                <a:spcPts val="4008"/>
              </a:lnSpc>
              <a:buFont typeface="Arial"/>
              <a:buChar char="•"/>
            </a:pPr>
            <a:r>
              <a:rPr lang="en-US" sz="4008">
                <a:solidFill>
                  <a:srgbClr val="4F7662"/>
                </a:solidFill>
                <a:latin typeface="Poppins"/>
                <a:ea typeface="Poppins"/>
                <a:cs typeface="Poppins"/>
                <a:sym typeface="Poppins"/>
              </a:rPr>
              <a:t>Confirmed COVID-19 cases</a:t>
            </a:r>
          </a:p>
          <a:p>
            <a:pPr algn="l" marL="865497" indent="-432748" lvl="1">
              <a:lnSpc>
                <a:spcPts val="4008"/>
              </a:lnSpc>
              <a:buFont typeface="Arial"/>
              <a:buChar char="•"/>
            </a:pPr>
            <a:r>
              <a:rPr lang="en-US" sz="4008">
                <a:solidFill>
                  <a:srgbClr val="4F7662"/>
                </a:solidFill>
                <a:latin typeface="Poppins"/>
                <a:ea typeface="Poppins"/>
                <a:cs typeface="Poppins"/>
                <a:sym typeface="Poppins"/>
              </a:rPr>
              <a:t>Recoveries</a:t>
            </a:r>
          </a:p>
          <a:p>
            <a:pPr algn="l" marL="865497" indent="-432748" lvl="1">
              <a:lnSpc>
                <a:spcPts val="4008"/>
              </a:lnSpc>
              <a:buFont typeface="Arial"/>
              <a:buChar char="•"/>
            </a:pPr>
            <a:r>
              <a:rPr lang="en-US" sz="4008">
                <a:solidFill>
                  <a:srgbClr val="4F7662"/>
                </a:solidFill>
                <a:latin typeface="Poppins"/>
                <a:ea typeface="Poppins"/>
                <a:cs typeface="Poppins"/>
                <a:sym typeface="Poppins"/>
              </a:rPr>
              <a:t>Deaths</a:t>
            </a:r>
          </a:p>
          <a:p>
            <a:pPr algn="l" marL="865497" indent="-432748" lvl="1">
              <a:lnSpc>
                <a:spcPts val="4008"/>
              </a:lnSpc>
              <a:buFont typeface="Arial"/>
              <a:buChar char="•"/>
            </a:pPr>
            <a:r>
              <a:rPr lang="en-US" sz="4008">
                <a:solidFill>
                  <a:srgbClr val="4F7662"/>
                </a:solidFill>
                <a:latin typeface="Poppins"/>
                <a:ea typeface="Poppins"/>
                <a:cs typeface="Poppins"/>
                <a:sym typeface="Poppins"/>
              </a:rPr>
              <a:t>Geographical/region-wise information</a:t>
            </a:r>
          </a:p>
          <a:p>
            <a:pPr algn="l" marL="865497" indent="-432748" lvl="1">
              <a:lnSpc>
                <a:spcPts val="4008"/>
              </a:lnSpc>
              <a:buFont typeface="Arial"/>
              <a:buChar char="•"/>
            </a:pPr>
            <a:r>
              <a:rPr lang="en-US" sz="4008">
                <a:solidFill>
                  <a:srgbClr val="4F7662"/>
                </a:solidFill>
                <a:latin typeface="Poppins"/>
                <a:ea typeface="Poppins"/>
                <a:cs typeface="Poppins"/>
                <a:sym typeface="Poppins"/>
              </a:rPr>
              <a:t>Other relevant COVID-19 statistics available in the dataset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26945" y="3737864"/>
            <a:ext cx="7832091" cy="2227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38"/>
              </a:lnSpc>
            </a:pPr>
            <a:r>
              <a:rPr lang="en-US" sz="8338" b="true">
                <a:solidFill>
                  <a:srgbClr val="4F7662"/>
                </a:solidFill>
                <a:latin typeface="Poppins Bold"/>
                <a:ea typeface="Poppins Bold"/>
                <a:cs typeface="Poppins Bold"/>
                <a:sym typeface="Poppins Bold"/>
              </a:rPr>
              <a:t> Tools and Technologies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17961" y="880945"/>
            <a:ext cx="5760672" cy="1469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3"/>
              </a:lnSpc>
            </a:pPr>
            <a:r>
              <a:rPr lang="en-US" sz="3009" b="true">
                <a:solidFill>
                  <a:srgbClr val="4F7662"/>
                </a:solidFill>
                <a:latin typeface="Poppins Bold"/>
                <a:ea typeface="Poppins Bold"/>
                <a:cs typeface="Poppins Bold"/>
                <a:sym typeface="Poppins Bold"/>
              </a:rPr>
              <a:t>Python</a:t>
            </a:r>
          </a:p>
          <a:p>
            <a:pPr algn="l">
              <a:lnSpc>
                <a:spcPts val="3631"/>
              </a:lnSpc>
            </a:pPr>
            <a:r>
              <a:rPr lang="en-US" sz="2593">
                <a:solidFill>
                  <a:srgbClr val="4F7662"/>
                </a:solidFill>
                <a:latin typeface="Poppins"/>
                <a:ea typeface="Poppins"/>
                <a:cs typeface="Poppins"/>
                <a:sym typeface="Poppins"/>
              </a:rPr>
              <a:t> Primary programming language used for data analysis.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17961" y="2989155"/>
            <a:ext cx="5760672" cy="1481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8"/>
              </a:lnSpc>
            </a:pPr>
            <a:r>
              <a:rPr lang="en-US" sz="3055" b="true">
                <a:solidFill>
                  <a:srgbClr val="4F7662"/>
                </a:solidFill>
                <a:latin typeface="Poppins Bold"/>
                <a:ea typeface="Poppins Bold"/>
                <a:cs typeface="Poppins Bold"/>
                <a:sym typeface="Poppins Bold"/>
              </a:rPr>
              <a:t>Pandas</a:t>
            </a:r>
          </a:p>
          <a:p>
            <a:pPr algn="l">
              <a:lnSpc>
                <a:spcPts val="3686"/>
              </a:lnSpc>
            </a:pPr>
            <a:r>
              <a:rPr lang="en-US" sz="2633">
                <a:solidFill>
                  <a:srgbClr val="4F7662"/>
                </a:solidFill>
                <a:latin typeface="Poppins"/>
                <a:ea typeface="Poppins"/>
                <a:cs typeface="Poppins"/>
                <a:sym typeface="Poppins"/>
              </a:rPr>
              <a:t> Used for data loading, cleaning, manipulation, and analysis.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17961" y="5218087"/>
            <a:ext cx="5468393" cy="1408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04"/>
              </a:lnSpc>
            </a:pPr>
            <a:r>
              <a:rPr lang="en-US" sz="2931" b="true">
                <a:solidFill>
                  <a:srgbClr val="4F7662"/>
                </a:solidFill>
                <a:latin typeface="Poppins Bold"/>
                <a:ea typeface="Poppins Bold"/>
                <a:cs typeface="Poppins Bold"/>
                <a:sym typeface="Poppins Bold"/>
              </a:rPr>
              <a:t>Matplotlib</a:t>
            </a:r>
          </a:p>
          <a:p>
            <a:pPr algn="l">
              <a:lnSpc>
                <a:spcPts val="3520"/>
              </a:lnSpc>
              <a:spcBef>
                <a:spcPct val="0"/>
              </a:spcBef>
            </a:pPr>
            <a:r>
              <a:rPr lang="en-US" sz="2514">
                <a:solidFill>
                  <a:srgbClr val="4F7662"/>
                </a:solidFill>
                <a:latin typeface="Poppins"/>
                <a:ea typeface="Poppins"/>
                <a:cs typeface="Poppins"/>
                <a:sym typeface="Poppins"/>
              </a:rPr>
              <a:t> Used to create graphs and charts for data visualization.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17961" y="7070607"/>
            <a:ext cx="7041339" cy="1421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9"/>
              </a:lnSpc>
            </a:pPr>
            <a:r>
              <a:rPr lang="en-US" sz="2964" b="true">
                <a:solidFill>
                  <a:srgbClr val="4F7662"/>
                </a:solidFill>
                <a:latin typeface="Poppins Bold"/>
                <a:ea typeface="Poppins Bold"/>
                <a:cs typeface="Poppins Bold"/>
                <a:sym typeface="Poppins Bold"/>
              </a:rPr>
              <a:t>Google Colab</a:t>
            </a:r>
          </a:p>
          <a:p>
            <a:pPr algn="l">
              <a:lnSpc>
                <a:spcPts val="3563"/>
              </a:lnSpc>
              <a:spcBef>
                <a:spcPct val="0"/>
              </a:spcBef>
            </a:pPr>
            <a:r>
              <a:rPr lang="en-US" sz="2545">
                <a:solidFill>
                  <a:srgbClr val="4F7662"/>
                </a:solidFill>
                <a:latin typeface="Poppins"/>
                <a:ea typeface="Poppins"/>
                <a:cs typeface="Poppins"/>
                <a:sym typeface="Poppins"/>
              </a:rPr>
              <a:t> Used as the environment for writing and executing the Python analysis.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95049" y="720848"/>
            <a:ext cx="9177246" cy="1125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8"/>
              </a:lnSpc>
            </a:pPr>
            <a:r>
              <a:rPr lang="en-US" sz="7938" b="true">
                <a:solidFill>
                  <a:srgbClr val="4F7662"/>
                </a:solidFill>
                <a:latin typeface="Poppins Bold"/>
                <a:ea typeface="Poppins Bold"/>
                <a:cs typeface="Poppins Bold"/>
                <a:sym typeface="Poppins Bold"/>
              </a:rPr>
              <a:t> Methodology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03023" y="3136673"/>
            <a:ext cx="16540366" cy="6503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31985" indent="-315993" lvl="1">
              <a:lnSpc>
                <a:spcPts val="4098"/>
              </a:lnSpc>
              <a:buFont typeface="Arial"/>
              <a:buChar char="•"/>
            </a:pPr>
            <a:r>
              <a:rPr lang="en-US" b="true" sz="2927">
                <a:solidFill>
                  <a:srgbClr val="4F7662"/>
                </a:solidFill>
                <a:latin typeface="Poppins Bold"/>
                <a:ea typeface="Poppins Bold"/>
                <a:cs typeface="Poppins Bold"/>
                <a:sym typeface="Poppins Bold"/>
              </a:rPr>
              <a:t>Data Collection</a:t>
            </a:r>
          </a:p>
          <a:p>
            <a:pPr algn="just">
              <a:lnSpc>
                <a:spcPts val="3958"/>
              </a:lnSpc>
            </a:pPr>
            <a:r>
              <a:rPr lang="en-US" sz="2827">
                <a:solidFill>
                  <a:srgbClr val="4F7662"/>
                </a:solidFill>
                <a:latin typeface="Poppins"/>
                <a:ea typeface="Poppins"/>
                <a:cs typeface="Poppins"/>
                <a:sym typeface="Poppins"/>
              </a:rPr>
              <a:t>      </a:t>
            </a:r>
            <a:r>
              <a:rPr lang="en-US" sz="2827">
                <a:solidFill>
                  <a:srgbClr val="4F7662"/>
                </a:solidFill>
                <a:latin typeface="Poppins"/>
                <a:ea typeface="Poppins"/>
                <a:cs typeface="Poppins"/>
                <a:sym typeface="Poppins"/>
              </a:rPr>
              <a:t>Obtain the COVID-19 dataset for analysis.</a:t>
            </a:r>
          </a:p>
          <a:p>
            <a:pPr algn="just" marL="631984" indent="-315992" lvl="1">
              <a:lnSpc>
                <a:spcPts val="4098"/>
              </a:lnSpc>
              <a:buFont typeface="Arial"/>
              <a:buChar char="•"/>
            </a:pPr>
            <a:r>
              <a:rPr lang="en-US" b="true" sz="2927">
                <a:solidFill>
                  <a:srgbClr val="4F7662"/>
                </a:solidFill>
                <a:latin typeface="Poppins Bold"/>
                <a:ea typeface="Poppins Bold"/>
                <a:cs typeface="Poppins Bold"/>
                <a:sym typeface="Poppins Bold"/>
              </a:rPr>
              <a:t>Data Loading</a:t>
            </a:r>
          </a:p>
          <a:p>
            <a:pPr algn="just">
              <a:lnSpc>
                <a:spcPts val="3958"/>
              </a:lnSpc>
            </a:pPr>
            <a:r>
              <a:rPr lang="en-US" sz="2827">
                <a:solidFill>
                  <a:srgbClr val="4F7662"/>
                </a:solidFill>
                <a:latin typeface="Poppins"/>
                <a:ea typeface="Poppins"/>
                <a:cs typeface="Poppins"/>
                <a:sym typeface="Poppins"/>
              </a:rPr>
              <a:t>       </a:t>
            </a:r>
            <a:r>
              <a:rPr lang="en-US" sz="2827">
                <a:solidFill>
                  <a:srgbClr val="4F7662"/>
                </a:solidFill>
                <a:latin typeface="Poppins"/>
                <a:ea typeface="Poppins"/>
                <a:cs typeface="Poppins"/>
                <a:sym typeface="Poppins"/>
              </a:rPr>
              <a:t>Import the dataset into Google Colab using Pandas.</a:t>
            </a:r>
          </a:p>
          <a:p>
            <a:pPr algn="just" marL="631984" indent="-315992" lvl="1">
              <a:lnSpc>
                <a:spcPts val="4098"/>
              </a:lnSpc>
              <a:buFont typeface="Arial"/>
              <a:buChar char="•"/>
            </a:pPr>
            <a:r>
              <a:rPr lang="en-US" b="true" sz="2927">
                <a:solidFill>
                  <a:srgbClr val="4F7662"/>
                </a:solidFill>
                <a:latin typeface="Poppins Bold"/>
                <a:ea typeface="Poppins Bold"/>
                <a:cs typeface="Poppins Bold"/>
                <a:sym typeface="Poppins Bold"/>
              </a:rPr>
              <a:t>Data Cleaning</a:t>
            </a:r>
          </a:p>
          <a:p>
            <a:pPr algn="just">
              <a:lnSpc>
                <a:spcPts val="3958"/>
              </a:lnSpc>
            </a:pPr>
            <a:r>
              <a:rPr lang="en-US" sz="2827">
                <a:solidFill>
                  <a:srgbClr val="4F7662"/>
                </a:solidFill>
                <a:latin typeface="Poppins"/>
                <a:ea typeface="Poppins"/>
                <a:cs typeface="Poppins"/>
                <a:sym typeface="Poppins"/>
              </a:rPr>
              <a:t>       </a:t>
            </a:r>
            <a:r>
              <a:rPr lang="en-US" sz="2827">
                <a:solidFill>
                  <a:srgbClr val="4F7662"/>
                </a:solidFill>
                <a:latin typeface="Poppins"/>
                <a:ea typeface="Poppins"/>
                <a:cs typeface="Poppins"/>
                <a:sym typeface="Poppins"/>
              </a:rPr>
              <a:t>Check for missing values, duplicate records, and inconsistencies in the data.</a:t>
            </a:r>
          </a:p>
          <a:p>
            <a:pPr algn="just" marL="631984" indent="-315992" lvl="1">
              <a:lnSpc>
                <a:spcPts val="4098"/>
              </a:lnSpc>
              <a:buFont typeface="Arial"/>
              <a:buChar char="•"/>
            </a:pPr>
            <a:r>
              <a:rPr lang="en-US" b="true" sz="2927">
                <a:solidFill>
                  <a:srgbClr val="4F7662"/>
                </a:solidFill>
                <a:latin typeface="Poppins Bold"/>
                <a:ea typeface="Poppins Bold"/>
                <a:cs typeface="Poppins Bold"/>
                <a:sym typeface="Poppins Bold"/>
              </a:rPr>
              <a:t>Data Exploration</a:t>
            </a:r>
          </a:p>
          <a:p>
            <a:pPr algn="just">
              <a:lnSpc>
                <a:spcPts val="3958"/>
              </a:lnSpc>
            </a:pPr>
            <a:r>
              <a:rPr lang="en-US" sz="2827">
                <a:solidFill>
                  <a:srgbClr val="4F7662"/>
                </a:solidFill>
                <a:latin typeface="Poppins"/>
                <a:ea typeface="Poppins"/>
                <a:cs typeface="Poppins"/>
                <a:sym typeface="Poppins"/>
              </a:rPr>
              <a:t>       </a:t>
            </a:r>
            <a:r>
              <a:rPr lang="en-US" sz="2827">
                <a:solidFill>
                  <a:srgbClr val="4F7662"/>
                </a:solidFill>
                <a:latin typeface="Poppins"/>
                <a:ea typeface="Poppins"/>
                <a:cs typeface="Poppins"/>
                <a:sym typeface="Poppins"/>
              </a:rPr>
              <a:t>Examine the structure, columns, and statistical characteristics of the dataset.</a:t>
            </a:r>
          </a:p>
          <a:p>
            <a:pPr algn="just" marL="631984" indent="-315992" lvl="1">
              <a:lnSpc>
                <a:spcPts val="4098"/>
              </a:lnSpc>
              <a:buFont typeface="Arial"/>
              <a:buChar char="•"/>
            </a:pPr>
            <a:r>
              <a:rPr lang="en-US" b="true" sz="2927">
                <a:solidFill>
                  <a:srgbClr val="4F7662"/>
                </a:solidFill>
                <a:latin typeface="Poppins Bold"/>
                <a:ea typeface="Poppins Bold"/>
                <a:cs typeface="Poppins Bold"/>
                <a:sym typeface="Poppins Bold"/>
              </a:rPr>
              <a:t>Data Analysis</a:t>
            </a:r>
          </a:p>
          <a:p>
            <a:pPr algn="just">
              <a:lnSpc>
                <a:spcPts val="3958"/>
              </a:lnSpc>
            </a:pPr>
            <a:r>
              <a:rPr lang="en-US" sz="2827">
                <a:solidFill>
                  <a:srgbClr val="4F7662"/>
                </a:solidFill>
                <a:latin typeface="Poppins"/>
                <a:ea typeface="Poppins"/>
                <a:cs typeface="Poppins"/>
                <a:sym typeface="Poppins"/>
              </a:rPr>
              <a:t>       </a:t>
            </a:r>
            <a:r>
              <a:rPr lang="en-US" sz="2827">
                <a:solidFill>
                  <a:srgbClr val="4F7662"/>
                </a:solidFill>
                <a:latin typeface="Poppins"/>
                <a:ea typeface="Poppins"/>
                <a:cs typeface="Poppins"/>
                <a:sym typeface="Poppins"/>
              </a:rPr>
              <a:t>Analyze cases, recoveries, deaths, infection rates, and regional patterns.</a:t>
            </a:r>
          </a:p>
          <a:p>
            <a:pPr algn="just" marL="631984" indent="-315992" lvl="1">
              <a:lnSpc>
                <a:spcPts val="4098"/>
              </a:lnSpc>
              <a:buFont typeface="Arial"/>
              <a:buChar char="•"/>
            </a:pPr>
            <a:r>
              <a:rPr lang="en-US" b="true" sz="2927">
                <a:solidFill>
                  <a:srgbClr val="4F7662"/>
                </a:solidFill>
                <a:latin typeface="Poppins Bold"/>
                <a:ea typeface="Poppins Bold"/>
                <a:cs typeface="Poppins Bold"/>
                <a:sym typeface="Poppins Bold"/>
              </a:rPr>
              <a:t>Data Visualization</a:t>
            </a:r>
          </a:p>
          <a:p>
            <a:pPr algn="just">
              <a:lnSpc>
                <a:spcPts val="3958"/>
              </a:lnSpc>
            </a:pPr>
            <a:r>
              <a:rPr lang="en-US" sz="2827">
                <a:solidFill>
                  <a:srgbClr val="4F7662"/>
                </a:solidFill>
                <a:latin typeface="Poppins"/>
                <a:ea typeface="Poppins"/>
                <a:cs typeface="Poppins"/>
                <a:sym typeface="Poppins"/>
              </a:rPr>
              <a:t>       </a:t>
            </a:r>
            <a:r>
              <a:rPr lang="en-US" sz="2827">
                <a:solidFill>
                  <a:srgbClr val="4F7662"/>
                </a:solidFill>
                <a:latin typeface="Poppins"/>
                <a:ea typeface="Poppins"/>
                <a:cs typeface="Poppins"/>
                <a:sym typeface="Poppins"/>
              </a:rPr>
              <a:t>Represent important findings using graphs and charts with Matplotlib and   Seaborn</a:t>
            </a:r>
          </a:p>
          <a:p>
            <a:pPr algn="l">
              <a:lnSpc>
                <a:spcPts val="3517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495049" y="2198719"/>
            <a:ext cx="13569624" cy="566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9"/>
              </a:lnSpc>
              <a:spcBef>
                <a:spcPct val="0"/>
              </a:spcBef>
            </a:pPr>
            <a:r>
              <a:rPr lang="en-US" sz="3092">
                <a:solidFill>
                  <a:srgbClr val="4F7662"/>
                </a:solidFill>
                <a:latin typeface="Poppins"/>
                <a:ea typeface="Poppins"/>
                <a:cs typeface="Poppins"/>
                <a:sym typeface="Poppins"/>
              </a:rPr>
              <a:t>The analysis is carried out through the following steps: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82" t="0" r="-646" b="-2229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296146" y="1977979"/>
          <a:ext cx="16299231" cy="7467600"/>
        </p:xfrm>
        <a:graphic>
          <a:graphicData uri="http://schemas.openxmlformats.org/drawingml/2006/table">
            <a:tbl>
              <a:tblPr/>
              <a:tblGrid>
                <a:gridCol w="8114142"/>
                <a:gridCol w="8185089"/>
              </a:tblGrid>
              <a:tr h="116800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Data Cleaning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766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Data Analysis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7662"/>
                    </a:solidFill>
                  </a:tcPr>
                </a:tc>
              </a:tr>
              <a:tr h="6299591">
                <a:tc>
                  <a:txBody>
                    <a:bodyPr anchor="t" rtlCol="false"/>
                    <a:lstStyle/>
                    <a:p>
                      <a:pPr algn="l" marL="690872" indent="-345436" lvl="1">
                        <a:lnSpc>
                          <a:spcPts val="447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31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Checked the dataset for missing values.</a:t>
                      </a:r>
                      <a:endParaRPr lang="en-US" sz="1100"/>
                    </a:p>
                    <a:p>
                      <a:pPr algn="l" marL="690872" indent="-345436" lvl="1">
                        <a:lnSpc>
                          <a:spcPts val="4479"/>
                        </a:lnSpc>
                        <a:buFont typeface="Arial"/>
                        <a:buChar char="•"/>
                      </a:pPr>
                      <a:r>
                        <a:rPr lang="en-US" sz="31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Identified and handled duplicate records.</a:t>
                      </a:r>
                    </a:p>
                    <a:p>
                      <a:pPr algn="l" marL="690872" indent="-345436" lvl="1">
                        <a:lnSpc>
                          <a:spcPts val="4479"/>
                        </a:lnSpc>
                        <a:buFont typeface="Arial"/>
                        <a:buChar char="•"/>
                      </a:pPr>
                      <a:r>
                        <a:rPr lang="en-US" sz="31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Checked data types and corrected inconsistencies where required.</a:t>
                      </a:r>
                    </a:p>
                    <a:p>
                      <a:pPr algn="l" marL="690872" indent="-345436" lvl="1">
                        <a:lnSpc>
                          <a:spcPts val="4479"/>
                        </a:lnSpc>
                        <a:buFont typeface="Arial"/>
                        <a:buChar char="•"/>
                      </a:pPr>
                      <a:r>
                        <a:rPr lang="en-US" sz="31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Prepared the data for further analysis.</a:t>
                      </a:r>
                    </a:p>
                    <a:p>
                      <a:pPr algn="l">
                        <a:lnSpc>
                          <a:spcPts val="447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766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647690" indent="-323845" lvl="1">
                        <a:lnSpc>
                          <a:spcPts val="41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9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Examined the distribution of COVID-19 cases.</a:t>
                      </a:r>
                      <a:endParaRPr lang="en-US" sz="1100"/>
                    </a:p>
                    <a:p>
                      <a:pPr algn="l" marL="647690" indent="-323845" lvl="1">
                        <a:lnSpc>
                          <a:spcPts val="4199"/>
                        </a:lnSpc>
                        <a:buFont typeface="Arial"/>
                        <a:buChar char="•"/>
                      </a:pPr>
                      <a:r>
                        <a:rPr lang="en-US" sz="29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Compared confirmed cases, recoveries, and deaths.</a:t>
                      </a:r>
                    </a:p>
                    <a:p>
                      <a:pPr algn="l" marL="647690" indent="-323845" lvl="1">
                        <a:lnSpc>
                          <a:spcPts val="4199"/>
                        </a:lnSpc>
                        <a:buFont typeface="Arial"/>
                        <a:buChar char="•"/>
                      </a:pPr>
                      <a:r>
                        <a:rPr lang="en-US" sz="29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Analyzed regional differences in COVID-19 impact.</a:t>
                      </a:r>
                    </a:p>
                    <a:p>
                      <a:pPr algn="l" marL="647690" indent="-323845" lvl="1">
                        <a:lnSpc>
                          <a:spcPts val="4199"/>
                        </a:lnSpc>
                        <a:buFont typeface="Arial"/>
                        <a:buChar char="•"/>
                      </a:pPr>
                      <a:r>
                        <a:rPr lang="en-US" sz="29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Calculated relevant rates and summary statistics.</a:t>
                      </a:r>
                    </a:p>
                    <a:p>
                      <a:pPr algn="l" marL="647690" indent="-323845" lvl="1">
                        <a:lnSpc>
                          <a:spcPts val="4199"/>
                        </a:lnSpc>
                        <a:buFont typeface="Arial"/>
                        <a:buChar char="•"/>
                      </a:pPr>
                      <a:r>
                        <a:rPr lang="en-US" sz="29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Identified patterns and trends from the dataset.</a:t>
                      </a:r>
                    </a:p>
                    <a:p>
                      <a:pPr algn="l">
                        <a:lnSpc>
                          <a:spcPts val="377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7662"/>
                    </a:solidFill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3058691" y="408517"/>
            <a:ext cx="12774141" cy="1479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</a:p>
          <a:p>
            <a:pPr algn="ctr">
              <a:lnSpc>
                <a:spcPts val="4233"/>
              </a:lnSpc>
            </a:pPr>
            <a:r>
              <a:rPr lang="en-US" b="true" sz="4233">
                <a:solidFill>
                  <a:srgbClr val="4F7662"/>
                </a:solidFill>
                <a:latin typeface="Poppins Bold"/>
                <a:ea typeface="Poppins Bold"/>
                <a:cs typeface="Poppins Bold"/>
                <a:sym typeface="Poppins Bold"/>
              </a:rPr>
              <a:t>Data Cleaning and Analysis</a:t>
            </a:r>
          </a:p>
          <a:p>
            <a:pPr algn="l">
              <a:lnSpc>
                <a:spcPts val="4233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54377" y="826419"/>
            <a:ext cx="13100067" cy="1125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8"/>
              </a:lnSpc>
            </a:pPr>
            <a:r>
              <a:rPr lang="en-US" sz="7938" b="true">
                <a:solidFill>
                  <a:srgbClr val="4F7662"/>
                </a:solidFill>
                <a:latin typeface="Poppins Bold"/>
                <a:ea typeface="Poppins Bold"/>
                <a:cs typeface="Poppins Bold"/>
                <a:sym typeface="Poppins Bold"/>
              </a:rPr>
              <a:t>Data Visualization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54377" y="2237731"/>
            <a:ext cx="10231576" cy="1995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2"/>
              </a:lnSpc>
            </a:pPr>
            <a:r>
              <a:rPr lang="en-US" sz="2794">
                <a:solidFill>
                  <a:srgbClr val="4F7662"/>
                </a:solidFill>
                <a:latin typeface="Poppins"/>
                <a:ea typeface="Poppins"/>
                <a:cs typeface="Poppins"/>
                <a:sym typeface="Poppins"/>
              </a:rPr>
              <a:t>Data visualization helps present the analyzed COVID-19 data in a clear and understandable form. Different types of graphs can be used to identify trends, compare values, and understand relationships between variables.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26945" y="4609091"/>
            <a:ext cx="8805096" cy="441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2"/>
              </a:lnSpc>
            </a:pPr>
            <a:r>
              <a:rPr lang="en-US" sz="2494">
                <a:solidFill>
                  <a:srgbClr val="4F7662"/>
                </a:solidFill>
                <a:latin typeface="Poppins"/>
                <a:ea typeface="Poppins"/>
                <a:cs typeface="Poppins"/>
                <a:sym typeface="Poppins"/>
              </a:rPr>
              <a:t>The visualizations used may include: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02870" y="5379884"/>
            <a:ext cx="8996751" cy="257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3329" indent="-161664" lvl="1">
              <a:lnSpc>
                <a:spcPts val="2096"/>
              </a:lnSpc>
              <a:buFont typeface="Arial"/>
              <a:buChar char="•"/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754377" y="5413252"/>
            <a:ext cx="6959400" cy="2685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7653" indent="-408827" lvl="1">
              <a:lnSpc>
                <a:spcPts val="5302"/>
              </a:lnSpc>
              <a:buFont typeface="Arial"/>
              <a:buChar char="•"/>
            </a:pPr>
            <a:r>
              <a:rPr lang="en-US" sz="3787" spc="-75">
                <a:solidFill>
                  <a:srgbClr val="4F7662"/>
                </a:solidFill>
                <a:latin typeface="Poppins"/>
                <a:ea typeface="Poppins"/>
                <a:cs typeface="Poppins"/>
                <a:sym typeface="Poppins"/>
              </a:rPr>
              <a:t>Line Charts </a:t>
            </a:r>
          </a:p>
          <a:p>
            <a:pPr algn="l" marL="817653" indent="-408827" lvl="1">
              <a:lnSpc>
                <a:spcPts val="5302"/>
              </a:lnSpc>
              <a:buFont typeface="Arial"/>
              <a:buChar char="•"/>
            </a:pPr>
            <a:r>
              <a:rPr lang="en-US" sz="3787" spc="-75">
                <a:solidFill>
                  <a:srgbClr val="4F7662"/>
                </a:solidFill>
                <a:latin typeface="Poppins"/>
                <a:ea typeface="Poppins"/>
                <a:cs typeface="Poppins"/>
                <a:sym typeface="Poppins"/>
              </a:rPr>
              <a:t>Bar Charts </a:t>
            </a:r>
          </a:p>
          <a:p>
            <a:pPr algn="l" marL="817653" indent="-408827" lvl="1">
              <a:lnSpc>
                <a:spcPts val="5302"/>
              </a:lnSpc>
              <a:buFont typeface="Arial"/>
              <a:buChar char="•"/>
            </a:pPr>
            <a:r>
              <a:rPr lang="en-US" sz="3787" spc="-75">
                <a:solidFill>
                  <a:srgbClr val="4F7662"/>
                </a:solidFill>
                <a:latin typeface="Poppins"/>
                <a:ea typeface="Poppins"/>
                <a:cs typeface="Poppins"/>
                <a:sym typeface="Poppins"/>
              </a:rPr>
              <a:t>Scatter Plots</a:t>
            </a:r>
          </a:p>
          <a:p>
            <a:pPr algn="l" marL="817653" indent="-408827" lvl="1">
              <a:lnSpc>
                <a:spcPts val="5302"/>
              </a:lnSpc>
              <a:buFont typeface="Arial"/>
              <a:buChar char="•"/>
            </a:pPr>
            <a:r>
              <a:rPr lang="en-US" sz="3787" spc="-75">
                <a:solidFill>
                  <a:srgbClr val="4F7662"/>
                </a:solidFill>
                <a:latin typeface="Poppins"/>
                <a:ea typeface="Poppins"/>
                <a:cs typeface="Poppins"/>
                <a:sym typeface="Poppins"/>
              </a:rPr>
              <a:t>Heatmaps .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766483" y="-180198"/>
            <a:ext cx="7981332" cy="11192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203799"/>
            <a:ext cx="15675832" cy="7411121"/>
          </a:xfrm>
          <a:custGeom>
            <a:avLst/>
            <a:gdLst/>
            <a:ahLst/>
            <a:cxnLst/>
            <a:rect r="r" b="b" t="t" l="l"/>
            <a:pathLst>
              <a:path h="7411121" w="15675832">
                <a:moveTo>
                  <a:pt x="0" y="0"/>
                </a:moveTo>
                <a:lnTo>
                  <a:pt x="15675832" y="0"/>
                </a:lnTo>
                <a:lnTo>
                  <a:pt x="15675832" y="7411121"/>
                </a:lnTo>
                <a:lnTo>
                  <a:pt x="0" y="74111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8" t="-819" r="-907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74592" y="711655"/>
            <a:ext cx="7569408" cy="1125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8"/>
              </a:lnSpc>
            </a:pPr>
            <a:r>
              <a:rPr lang="en-US" sz="7938" b="true">
                <a:solidFill>
                  <a:srgbClr val="4F7662"/>
                </a:solidFill>
                <a:latin typeface="Poppins Bold"/>
                <a:ea typeface="Poppins Bold"/>
                <a:cs typeface="Poppins Bold"/>
                <a:sym typeface="Poppins Bold"/>
              </a:rPr>
              <a:t>Results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6239" y="1915571"/>
            <a:ext cx="14952010" cy="7342729"/>
          </a:xfrm>
          <a:custGeom>
            <a:avLst/>
            <a:gdLst/>
            <a:ahLst/>
            <a:cxnLst/>
            <a:rect r="r" b="b" t="t" l="l"/>
            <a:pathLst>
              <a:path h="7342729" w="14952010">
                <a:moveTo>
                  <a:pt x="0" y="0"/>
                </a:moveTo>
                <a:lnTo>
                  <a:pt x="14952011" y="0"/>
                </a:lnTo>
                <a:lnTo>
                  <a:pt x="14952011" y="7342729"/>
                </a:lnTo>
                <a:lnTo>
                  <a:pt x="0" y="73427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2" r="0" b="-151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94051" y="504019"/>
            <a:ext cx="7569408" cy="1125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8"/>
              </a:lnSpc>
            </a:pPr>
            <a:r>
              <a:rPr lang="en-US" sz="7938" b="true">
                <a:solidFill>
                  <a:srgbClr val="4F7662"/>
                </a:solidFill>
                <a:latin typeface="Poppins Bold"/>
                <a:ea typeface="Poppins Bold"/>
                <a:cs typeface="Poppins Bold"/>
                <a:sym typeface="Poppins Bold"/>
              </a:rPr>
              <a:t>Results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2118" y="1471436"/>
            <a:ext cx="13464958" cy="8228201"/>
          </a:xfrm>
          <a:custGeom>
            <a:avLst/>
            <a:gdLst/>
            <a:ahLst/>
            <a:cxnLst/>
            <a:rect r="r" b="b" t="t" l="l"/>
            <a:pathLst>
              <a:path h="8228201" w="13464958">
                <a:moveTo>
                  <a:pt x="0" y="0"/>
                </a:moveTo>
                <a:lnTo>
                  <a:pt x="13464958" y="0"/>
                </a:lnTo>
                <a:lnTo>
                  <a:pt x="13464958" y="8228201"/>
                </a:lnTo>
                <a:lnTo>
                  <a:pt x="0" y="82282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21" t="-12" r="0" b="-104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63154" y="76200"/>
            <a:ext cx="8657065" cy="1080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22"/>
              </a:lnSpc>
            </a:pPr>
            <a:r>
              <a:rPr lang="en-US" sz="7622" b="true">
                <a:solidFill>
                  <a:srgbClr val="4F7662"/>
                </a:solidFill>
                <a:latin typeface="Poppins Bold"/>
                <a:ea typeface="Poppins Bold"/>
                <a:cs typeface="Poppins Bold"/>
                <a:sym typeface="Poppins Bold"/>
              </a:rPr>
              <a:t>Results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32514" y="236323"/>
            <a:ext cx="9128872" cy="1435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1"/>
              </a:lnSpc>
            </a:pPr>
            <a:r>
              <a:rPr lang="en-US" sz="10001" b="true">
                <a:solidFill>
                  <a:srgbClr val="4F7662"/>
                </a:solidFill>
                <a:latin typeface="Poppins Bold"/>
                <a:ea typeface="Poppins Bold"/>
                <a:cs typeface="Poppins Bold"/>
                <a:sym typeface="Poppins Bold"/>
              </a:rPr>
              <a:t> 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32514" y="2234184"/>
            <a:ext cx="14491948" cy="7145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6852" indent="-398426" lvl="1">
              <a:lnSpc>
                <a:spcPts val="5167"/>
              </a:lnSpc>
              <a:buFont typeface="Arial"/>
              <a:buChar char="•"/>
            </a:pPr>
            <a:r>
              <a:rPr lang="en-US" sz="3690" spc="-73">
                <a:solidFill>
                  <a:srgbClr val="4F7662"/>
                </a:solidFill>
                <a:latin typeface="Poppins"/>
                <a:ea typeface="Poppins"/>
                <a:cs typeface="Poppins"/>
                <a:sym typeface="Poppins"/>
              </a:rPr>
              <a:t>Exploratory Data Analysis helped us understand the COVID-19 dataset.</a:t>
            </a:r>
          </a:p>
          <a:p>
            <a:pPr algn="l" marL="796852" indent="-398426" lvl="1">
              <a:lnSpc>
                <a:spcPts val="5167"/>
              </a:lnSpc>
              <a:buFont typeface="Arial"/>
              <a:buChar char="•"/>
            </a:pPr>
            <a:r>
              <a:rPr lang="en-US" sz="3690" spc="-73">
                <a:solidFill>
                  <a:srgbClr val="4F7662"/>
                </a:solidFill>
                <a:latin typeface="Poppins"/>
                <a:ea typeface="Poppins"/>
                <a:cs typeface="Poppins"/>
                <a:sym typeface="Poppins"/>
              </a:rPr>
              <a:t>Data cleaning and preprocessing improved the quality of the analysis.</a:t>
            </a:r>
          </a:p>
          <a:p>
            <a:pPr algn="l" marL="796852" indent="-398426" lvl="1">
              <a:lnSpc>
                <a:spcPts val="5167"/>
              </a:lnSpc>
              <a:buFont typeface="Arial"/>
              <a:buChar char="•"/>
            </a:pPr>
            <a:r>
              <a:rPr lang="en-US" sz="3690" spc="-73">
                <a:solidFill>
                  <a:srgbClr val="4F7662"/>
                </a:solidFill>
                <a:latin typeface="Poppins"/>
                <a:ea typeface="Poppins"/>
                <a:cs typeface="Poppins"/>
                <a:sym typeface="Poppins"/>
              </a:rPr>
              <a:t>Statistical analysis and visualization helped identify important COVID-19 patterns and trends.</a:t>
            </a:r>
          </a:p>
          <a:p>
            <a:pPr algn="l" marL="796852" indent="-398426" lvl="1">
              <a:lnSpc>
                <a:spcPts val="5167"/>
              </a:lnSpc>
              <a:buFont typeface="Arial"/>
              <a:buChar char="•"/>
            </a:pPr>
            <a:r>
              <a:rPr lang="en-US" sz="3690" spc="-73">
                <a:solidFill>
                  <a:srgbClr val="4F7662"/>
                </a:solidFill>
                <a:latin typeface="Poppins"/>
                <a:ea typeface="Poppins"/>
                <a:cs typeface="Poppins"/>
                <a:sym typeface="Poppins"/>
              </a:rPr>
              <a:t>Different graphs provided a clear representation of cases, recoveries, deaths, and regional variations.</a:t>
            </a:r>
          </a:p>
          <a:p>
            <a:pPr algn="l" marL="796852" indent="-398426" lvl="1">
              <a:lnSpc>
                <a:spcPts val="5167"/>
              </a:lnSpc>
              <a:buFont typeface="Arial"/>
              <a:buChar char="•"/>
            </a:pPr>
            <a:r>
              <a:rPr lang="en-US" sz="3690" spc="-73">
                <a:solidFill>
                  <a:srgbClr val="4F7662"/>
                </a:solidFill>
                <a:latin typeface="Poppins"/>
                <a:ea typeface="Poppins"/>
                <a:cs typeface="Poppins"/>
                <a:sym typeface="Poppins"/>
              </a:rPr>
              <a:t>The analysis demonstrates how data visualization can support better understanding of large datasets.</a:t>
            </a:r>
          </a:p>
          <a:p>
            <a:pPr algn="l">
              <a:lnSpc>
                <a:spcPts val="5167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906636"/>
            <a:ext cx="9128872" cy="1651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00"/>
              </a:lnSpc>
            </a:pPr>
            <a:r>
              <a:rPr lang="en-US" b="true" sz="11600">
                <a:solidFill>
                  <a:srgbClr val="4F7662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DAHU0cYmx8w</dc:identifier>
  <dcterms:modified xsi:type="dcterms:W3CDTF">2011-08-01T06:04:30Z</dcterms:modified>
  <cp:revision>1</cp:revision>
  <dc:title>hine lear</dc:title>
</cp:coreProperties>
</file>